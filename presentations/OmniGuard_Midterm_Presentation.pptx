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C4FF"/>
                </a:solidFill>
                <a:latin typeface="Segoe UI"/>
              </a:defRPr>
            </a:pPr>
            <a:r>
              <a:t>INDUSTRY PAIN POINTS &amp; MARKET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The Modern SOC Crisis: Disconnected Attack Vectors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328416" cy="484632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23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1636776"/>
            <a:ext cx="2889504" cy="44074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Zero-Hour Phishing Gap</a:t>
            </a:r>
          </a:p>
          <a:p>
            <a:pPr>
              <a:spcAft>
                <a:spcPts val="1200"/>
              </a:spcAft>
              <a:defRPr sz="1100" b="1">
                <a:solidFill>
                  <a:srgbClr val="00C4FF"/>
                </a:solidFill>
                <a:latin typeface="Segoe UI"/>
              </a:defRPr>
            </a:pPr>
            <a:r>
              <a:t>Active Portals Vanish in Hours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4–8h Lifespan: </a:t>
            </a:r>
            <a:r>
              <a:rPr>
                <a:solidFill>
                  <a:srgbClr val="CBD5E1"/>
                </a:solidFill>
              </a:rPr>
              <a:t>Malicious domains harvest logins and shut down before blacklists update.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12–48h Delay: </a:t>
            </a:r>
            <a:r>
              <a:rPr>
                <a:solidFill>
                  <a:srgbClr val="CBD5E1"/>
                </a:solidFill>
              </a:rPr>
              <a:t>Legacy reputation feeds update days late, leaving employees completely exposed.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Instant Account Breach: </a:t>
            </a:r>
            <a:r>
              <a:rPr>
                <a:solidFill>
                  <a:srgbClr val="CBD5E1"/>
                </a:solidFill>
              </a:rPr>
              <a:t>Stolen credentials are used to breach corporate SSO portals on day 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417320"/>
            <a:ext cx="3328416" cy="484632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23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45152" y="1636776"/>
            <a:ext cx="2889504" cy="44074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Encrypted C2 Blind Spot</a:t>
            </a:r>
          </a:p>
          <a:p>
            <a:pPr>
              <a:spcAft>
                <a:spcPts val="1200"/>
              </a:spcAft>
              <a:defRPr sz="1100" b="1">
                <a:solidFill>
                  <a:srgbClr val="00C4FF"/>
                </a:solidFill>
                <a:latin typeface="Segoe UI"/>
              </a:defRPr>
            </a:pPr>
            <a:r>
              <a:t>&gt;95% Traffic Hidden in TLS 1.3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Camouflaged Egress: </a:t>
            </a:r>
            <a:r>
              <a:rPr>
                <a:solidFill>
                  <a:srgbClr val="CBD5E1"/>
                </a:solidFill>
              </a:rPr>
              <a:t>Reverse shells (Sliver, Cobalt Strike) look like legitimate web surfing.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10%–50% Jitter: </a:t>
            </a:r>
            <a:r>
              <a:rPr>
                <a:solidFill>
                  <a:srgbClr val="CBD5E1"/>
                </a:solidFill>
              </a:rPr>
              <a:t>Randomized beacon timing easily defeats fixed-threshold firewall rules.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Decryption Penalty: </a:t>
            </a:r>
            <a:r>
              <a:rPr>
                <a:solidFill>
                  <a:srgbClr val="CBD5E1"/>
                </a:solidFill>
              </a:rPr>
              <a:t>Deep packet inspection invades privacy, slows networks, and breaks certs.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417320"/>
            <a:ext cx="3328416" cy="484632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23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39328" y="1636776"/>
            <a:ext cx="2889504" cy="44074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Alert Fatigue &amp; Silos</a:t>
            </a:r>
          </a:p>
          <a:p>
            <a:pPr>
              <a:spcAft>
                <a:spcPts val="1200"/>
              </a:spcAft>
              <a:defRPr sz="1100" b="1">
                <a:solidFill>
                  <a:srgbClr val="00C4FF"/>
                </a:solidFill>
                <a:latin typeface="Segoe UI"/>
              </a:defRPr>
            </a:pPr>
            <a:r>
              <a:t>Disconnected Logs &amp; Data Leakage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10,000+ Daily Alerts: </a:t>
            </a:r>
            <a:r>
              <a:rPr>
                <a:solidFill>
                  <a:srgbClr val="CBD5E1"/>
                </a:solidFill>
              </a:rPr>
              <a:t>Analysts drown in raw tables without seeing the complete attack picture.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16+ Days Dwell Time: </a:t>
            </a:r>
            <a:r>
              <a:rPr>
                <a:solidFill>
                  <a:srgbClr val="CBD5E1"/>
                </a:solidFill>
              </a:rPr>
              <a:t>Relational databases fail to trace multi-hop lateral movements.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Privacy Risk: </a:t>
            </a:r>
            <a:r>
              <a:rPr>
                <a:solidFill>
                  <a:srgbClr val="CBD5E1"/>
                </a:solidFill>
              </a:rPr>
              <a:t>Sending company telemetry to public cloud LLMs violates compliance.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C4FF"/>
                </a:solidFill>
                <a:latin typeface="Segoe UI"/>
              </a:defRPr>
            </a:pPr>
            <a:r>
              <a:t>SYSTEM ARCHITECTURE &amp; DESIGN PHILOSOPHY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OmniGuard Architecture: Producer–Core–Consumer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03920" y="566928"/>
            <a:ext cx="2926080" cy="384048"/>
          </a:xfrm>
          <a:prstGeom prst="roundRect">
            <a:avLst/>
          </a:prstGeom>
          <a:solidFill>
            <a:srgbClr val="102823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34D399"/>
                </a:solidFill>
                <a:latin typeface="Segoe UI"/>
              </a:defRPr>
            </a:pPr>
            <a:r>
              <a:t>●  100% On-Premises · Zero Cloud Egress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328416" cy="37947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23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636776"/>
            <a:ext cx="2889504" cy="33558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1. Detect (Producers)</a:t>
            </a:r>
          </a:p>
          <a:p>
            <a:pPr>
              <a:spcAft>
                <a:spcPts val="1200"/>
              </a:spcAft>
              <a:defRPr sz="1100" b="1">
                <a:solidFill>
                  <a:srgbClr val="00C4FF"/>
                </a:solidFill>
                <a:latin typeface="Segoe UI"/>
              </a:defRPr>
            </a:pPr>
            <a:r>
              <a:t>Multi-Modal Threat Sensors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VerifyEye Browser Engine: </a:t>
            </a:r>
            <a:r>
              <a:rPr>
                <a:solidFill>
                  <a:srgbClr val="CBD5E1"/>
                </a:solidFill>
              </a:rPr>
              <a:t>Monitors DOM changes and freezes fake login forms in real time.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SpectraC2 Network Engine: </a:t>
            </a:r>
            <a:r>
              <a:rPr>
                <a:solidFill>
                  <a:srgbClr val="CBD5E1"/>
                </a:solidFill>
              </a:rPr>
              <a:t>Extracts flow timing and unmasks hidden reverse shells via FFT.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1 Unified Ingestion Contract: </a:t>
            </a:r>
            <a:r>
              <a:rPr>
                <a:solidFill>
                  <a:srgbClr val="CBD5E1"/>
                </a:solidFill>
              </a:rPr>
              <a:t>Every sensor communicates via one Pydantic schema over POST /alerts.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417320"/>
            <a:ext cx="3328416" cy="37947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23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1636776"/>
            <a:ext cx="2889504" cy="33558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2. Correlate (Core Engine)</a:t>
            </a:r>
          </a:p>
          <a:p>
            <a:pPr>
              <a:spcAft>
                <a:spcPts val="1200"/>
              </a:spcAft>
              <a:defRPr sz="1100" b="1">
                <a:solidFill>
                  <a:srgbClr val="00C4FF"/>
                </a:solidFill>
                <a:latin typeface="Segoe UI"/>
              </a:defRPr>
            </a:pPr>
            <a:r>
              <a:t>Dual-Database Persistence Split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FastAPI Central Core: </a:t>
            </a:r>
            <a:r>
              <a:rPr>
                <a:solidFill>
                  <a:srgbClr val="CBD5E1"/>
                </a:solidFill>
              </a:rPr>
              <a:t>Non-blocking async ingestion with UTC monotonic timestamps.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MongoDB (Logs &amp; Telemetry): </a:t>
            </a:r>
            <a:r>
              <a:rPr>
                <a:solidFill>
                  <a:srgbClr val="CBD5E1"/>
                </a:solidFill>
              </a:rPr>
              <a:t>Durable store for full JSON payloads, DOM snapshots, and audit trail.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Neo4j (Attack Graph): </a:t>
            </a:r>
            <a:r>
              <a:rPr>
                <a:solidFill>
                  <a:srgbClr val="CBD5E1"/>
                </a:solidFill>
              </a:rPr>
              <a:t>Decoupled entity topology built for microsecond lateral path discovery.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417320"/>
            <a:ext cx="3328416" cy="37947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23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9328" y="1636776"/>
            <a:ext cx="2889504" cy="33558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3. Act (Consumers)</a:t>
            </a:r>
          </a:p>
          <a:p>
            <a:pPr>
              <a:spcAft>
                <a:spcPts val="1200"/>
              </a:spcAft>
              <a:defRPr sz="1100" b="1">
                <a:solidFill>
                  <a:srgbClr val="00C4FF"/>
                </a:solidFill>
                <a:latin typeface="Segoe UI"/>
              </a:defRPr>
            </a:pPr>
            <a:r>
              <a:t>Real-Time Defensive Operations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React SOC Dashboard: </a:t>
            </a:r>
            <a:r>
              <a:rPr>
                <a:solidFill>
                  <a:srgbClr val="CBD5E1"/>
                </a:solidFill>
              </a:rPr>
              <a:t>Sub-second WebSocket feed (/ws/alerts) pushing live alerts to analysts.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Local AI Analyst (Ollama): </a:t>
            </a:r>
            <a:r>
              <a:rPr>
                <a:solidFill>
                  <a:srgbClr val="CBD5E1"/>
                </a:solidFill>
              </a:rPr>
              <a:t>On-device Llama 3.2 briefing delivered in &lt;3 seconds with zero cloud leaks.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1-Click Host Containment: </a:t>
            </a:r>
            <a:r>
              <a:rPr>
                <a:solidFill>
                  <a:srgbClr val="CBD5E1"/>
                </a:solidFill>
              </a:rPr>
              <a:t>Direct quarantine endpoint immediately cuts C2 channel to isolate threats.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440680"/>
            <a:ext cx="3328416" cy="86868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23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5660136"/>
            <a:ext cx="2889504" cy="429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Contract-First Design</a:t>
            </a:r>
          </a:p>
          <a:p>
            <a:pPr>
              <a:spcAft>
                <a:spcPts val="1200"/>
              </a:spcAft>
              <a:defRPr sz="1100" b="1">
                <a:solidFill>
                  <a:srgbClr val="00C4FF"/>
                </a:solidFill>
                <a:latin typeface="Segoe UI"/>
              </a:defRPr>
            </a:pPr>
            <a:r>
              <a:t>Any new engine connects via 1 simple schema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25696" y="5440680"/>
            <a:ext cx="3328416" cy="86868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23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5660136"/>
            <a:ext cx="2889504" cy="429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Graph Correlation</a:t>
            </a:r>
          </a:p>
          <a:p>
            <a:pPr>
              <a:spcAft>
                <a:spcPts val="1200"/>
              </a:spcAft>
              <a:defRPr sz="1100" b="1">
                <a:solidFill>
                  <a:srgbClr val="00C4FF"/>
                </a:solidFill>
                <a:latin typeface="Segoe UI"/>
              </a:defRPr>
            </a:pPr>
            <a:r>
              <a:t>Links isolated events into 1 coherent attack story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5440680"/>
            <a:ext cx="3328416" cy="86868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23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5660136"/>
            <a:ext cx="2889504" cy="429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100% Data Sovereignty</a:t>
            </a:r>
          </a:p>
          <a:p>
            <a:pPr>
              <a:spcAft>
                <a:spcPts val="1200"/>
              </a:spcAft>
              <a:defRPr sz="1100" b="1">
                <a:solidFill>
                  <a:srgbClr val="00C4FF"/>
                </a:solidFill>
                <a:latin typeface="Segoe UI"/>
              </a:defRPr>
            </a:pPr>
            <a:r>
              <a:t>Zero security telemetry ever leaves company network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C4FF"/>
                </a:solidFill>
                <a:latin typeface="Segoe UI"/>
              </a:defRPr>
            </a:pPr>
            <a:r>
              <a:t>NON-DECRYPTING BEHAVIORAL NETWORK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SpectraC2 Engine: Jitter-Invariant Beacon Detection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166360" cy="233172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23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1636776"/>
            <a:ext cx="4727448" cy="1892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Mathematical Signal Processing</a:t>
            </a:r>
          </a:p>
          <a:p>
            <a:pPr>
              <a:spcAft>
                <a:spcPts val="1200"/>
              </a:spcAft>
              <a:defRPr sz="1100" b="1">
                <a:solidFill>
                  <a:srgbClr val="00C4FF"/>
                </a:solidFill>
                <a:latin typeface="Segoe UI"/>
              </a:defRPr>
            </a:pPr>
            <a:r>
              <a:t>Fast Fourier Transform (FFT) &amp; Spectral Density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Frequency-Domain Conversion: </a:t>
            </a:r>
            <a:r>
              <a:rPr>
                <a:solidFill>
                  <a:srgbClr val="CBD5E1"/>
                </a:solidFill>
              </a:rPr>
              <a:t>Converts packet timing sequences (IAT deltas) into spectral harmonics.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Uncovers Hidden Cycles: </a:t>
            </a:r>
            <a:r>
              <a:rPr>
                <a:solidFill>
                  <a:srgbClr val="CBD5E1"/>
                </a:solidFill>
              </a:rPr>
              <a:t>Exposes repetitive C2 beacon check-ins buried inside high-volume web traffic.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Zero Decryption Needed: </a:t>
            </a:r>
            <a:r>
              <a:rPr>
                <a:solidFill>
                  <a:srgbClr val="CBD5E1"/>
                </a:solidFill>
              </a:rPr>
              <a:t>Preserves enterprise TLS 1.3 encryption and eliminates privacy liability.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1417320"/>
            <a:ext cx="5166360" cy="233172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23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10528" y="1636776"/>
            <a:ext cx="4727448" cy="1892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10%–50% Jitter Invariance</a:t>
            </a:r>
          </a:p>
          <a:p>
            <a:pPr>
              <a:spcAft>
                <a:spcPts val="1200"/>
              </a:spcAft>
              <a:defRPr sz="1100" b="1">
                <a:solidFill>
                  <a:srgbClr val="00C4FF"/>
                </a:solidFill>
                <a:latin typeface="Segoe UI"/>
              </a:defRPr>
            </a:pPr>
            <a:r>
              <a:t>Unmasking Disguised Hacker Signals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Defeats Evasion: </a:t>
            </a:r>
            <a:r>
              <a:rPr>
                <a:solidFill>
                  <a:srgbClr val="CBD5E1"/>
                </a:solidFill>
              </a:rPr>
              <a:t>Catches beacons even when intervals are randomized between 7.5s and 12.5s.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Threshold-Free: </a:t>
            </a:r>
            <a:r>
              <a:rPr>
                <a:solidFill>
                  <a:srgbClr val="CBD5E1"/>
                </a:solidFill>
              </a:rPr>
              <a:t>Replaces naive fixed-timer alerts with mathematical frequency harmonics.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94% Confidence Score: </a:t>
            </a:r>
            <a:r>
              <a:rPr>
                <a:solidFill>
                  <a:srgbClr val="CBD5E1"/>
                </a:solidFill>
              </a:rPr>
              <a:t>Validates true beacon period with high confidence through noisy networks.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77639"/>
            <a:ext cx="5166360" cy="233172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23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4197095"/>
            <a:ext cx="4727448" cy="1892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Behavioral AI Models</a:t>
            </a:r>
          </a:p>
          <a:p>
            <a:pPr>
              <a:spcAft>
                <a:spcPts val="1200"/>
              </a:spcAft>
              <a:defRPr sz="1100" b="1">
                <a:solidFill>
                  <a:srgbClr val="00C4FF"/>
                </a:solidFill>
                <a:latin typeface="Segoe UI"/>
              </a:defRPr>
            </a:pPr>
            <a:r>
              <a:t>Sequential Packet Order &amp; Anomaly Inference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LSTM &amp; Isolation Forest: </a:t>
            </a:r>
            <a:r>
              <a:rPr>
                <a:solidFill>
                  <a:srgbClr val="CBD5E1"/>
                </a:solidFill>
              </a:rPr>
              <a:t>Classifies malicious reverse shells vs. standard human web browsing.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&gt;90% Precision Target: </a:t>
            </a:r>
            <a:r>
              <a:rPr>
                <a:solidFill>
                  <a:srgbClr val="CBD5E1"/>
                </a:solidFill>
              </a:rPr>
              <a:t>Proven across 200+ simulated adversary sessions to stop false alarms.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Automated MITRE Mapping: </a:t>
            </a:r>
            <a:r>
              <a:rPr>
                <a:solidFill>
                  <a:srgbClr val="CBD5E1"/>
                </a:solidFill>
              </a:rPr>
              <a:t>Tags MITRE ATT&amp;CK T1071 (Application Layer C2) on alert generation.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3977639"/>
            <a:ext cx="5166360" cy="233172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23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4197095"/>
            <a:ext cx="4727448" cy="1892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Enterprise LinuxONE Ready</a:t>
            </a:r>
          </a:p>
          <a:p>
            <a:pPr>
              <a:spcAft>
                <a:spcPts val="1200"/>
              </a:spcAft>
              <a:defRPr sz="1100" b="1">
                <a:solidFill>
                  <a:srgbClr val="00C4FF"/>
                </a:solidFill>
                <a:latin typeface="Segoe UI"/>
              </a:defRPr>
            </a:pPr>
            <a:r>
              <a:t>Mainframe Speed on IBM s390x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Mainframe Offload: </a:t>
            </a:r>
            <a:r>
              <a:rPr>
                <a:solidFill>
                  <a:srgbClr val="CBD5E1"/>
                </a:solidFill>
              </a:rPr>
              <a:t>Offloads heavy vector math without slowing edge network sensors.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Zero Packet Drops: </a:t>
            </a:r>
            <a:r>
              <a:rPr>
                <a:solidFill>
                  <a:srgbClr val="CBD5E1"/>
                </a:solidFill>
              </a:rPr>
              <a:t>Automated memory buffers safeguard telemetry during peak traffic bursts.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Rock-Solid Reliability: </a:t>
            </a:r>
            <a:r>
              <a:rPr>
                <a:solidFill>
                  <a:srgbClr val="CBD5E1"/>
                </a:solidFill>
              </a:rPr>
              <a:t>24 out of 24 automated unit and pipeline integration tests pass.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C4FF"/>
                </a:solidFill>
                <a:latin typeface="Segoe UI"/>
              </a:defRPr>
            </a:pPr>
            <a:r>
              <a:t>CLIENT-SIDE REAL-TIME PHISHING INTERCEPTION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VerifyEye: Zero-Hour Ingress &amp; Credential Defense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166360" cy="489204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23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1636776"/>
            <a:ext cx="4727448" cy="4453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Client-Side Inline Protection</a:t>
            </a:r>
          </a:p>
          <a:p>
            <a:pPr>
              <a:spcAft>
                <a:spcPts val="1200"/>
              </a:spcAft>
              <a:defRPr sz="1100" b="1">
                <a:solidFill>
                  <a:srgbClr val="00C4FF"/>
                </a:solidFill>
                <a:latin typeface="Segoe UI"/>
              </a:defRPr>
            </a:pPr>
            <a:r>
              <a:t>Chrome Manifest V3 Extension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Sub-Millisecond Inspection: </a:t>
            </a:r>
            <a:r>
              <a:rPr>
                <a:solidFill>
                  <a:srgbClr val="CBD5E1"/>
                </a:solidFill>
              </a:rPr>
              <a:t>Inspects web pages inside the browser at page load, eliminating the 48h blacklist lag.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Surgical Form Freezing: </a:t>
            </a:r>
            <a:r>
              <a:rPr>
                <a:solidFill>
                  <a:srgbClr val="CBD5E1"/>
                </a:solidFill>
              </a:rPr>
              <a:t>Disables and locks email/password inputs with a red security banner before keystroke entry.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Network Exfiltration Block: </a:t>
            </a:r>
            <a:r>
              <a:rPr>
                <a:solidFill>
                  <a:srgbClr val="CBD5E1"/>
                </a:solidFill>
              </a:rPr>
              <a:t>declarativeNetRequest rules instantly block unauthorized outgoing POST requests.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Core Brand Whitelists: </a:t>
            </a:r>
            <a:r>
              <a:rPr>
                <a:solidFill>
                  <a:srgbClr val="CBD5E1"/>
                </a:solidFill>
              </a:rPr>
              <a:t>Protects Microsoft 365, Google, Okta, Apple, Netflix, Amazon, and Claude.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Zero User Friction: </a:t>
            </a:r>
            <a:r>
              <a:rPr>
                <a:solidFill>
                  <a:srgbClr val="CBD5E1"/>
                </a:solidFill>
              </a:rPr>
              <a:t>Legitimate corporate navigation stays active; only deceptive impostors are frozen.</a:t>
            </a:r>
          </a:p>
        </p:txBody>
      </p:sp>
      <p:pic>
        <p:nvPicPr>
          <p:cNvPr id="7" name="Picture 6" descr="06-verifyeye-claude-froz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1417320"/>
            <a:ext cx="5166360" cy="32918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91072" y="4892040"/>
            <a:ext cx="5166360" cy="141732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23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5111496"/>
            <a:ext cx="4727448" cy="9784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Live Ingress Demonstration</a:t>
            </a:r>
          </a:p>
          <a:p>
            <a:pPr>
              <a:spcAft>
                <a:spcPts val="1200"/>
              </a:spcAft>
              <a:defRPr sz="1100" b="1">
                <a:solidFill>
                  <a:srgbClr val="00C4FF"/>
                </a:solidFill>
                <a:latin typeface="Segoe UI"/>
              </a:defRPr>
            </a:pPr>
            <a:r>
              <a:t>Surgically Neutralizing Phishing Lures in &lt;500ms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Visual Input Lock: </a:t>
            </a:r>
            <a:r>
              <a:rPr>
                <a:solidFill>
                  <a:srgbClr val="CBD5E1"/>
                </a:solidFill>
              </a:rPr>
              <a:t>Email and password fields disabled with clear red security alerts.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Popup Traps Preserved: </a:t>
            </a:r>
            <a:r>
              <a:rPr>
                <a:solidFill>
                  <a:srgbClr val="CBD5E1"/>
                </a:solidFill>
              </a:rPr>
              <a:t>OAuth buttons stay clickable so secondary popup traps can also be caught.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C4FF"/>
                </a:solidFill>
                <a:latin typeface="Segoe UI"/>
              </a:defRPr>
            </a:pPr>
            <a:r>
              <a:t>DEFEATING ADVANCED ANTI-ANALYSIS TACTICS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VerifyEye Evasion Defense: OAuth Popups &amp; Dynamic SPAs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166360" cy="237744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23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1636776"/>
            <a:ext cx="4727448" cy="19385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Counterfeit OAuth Popup Interception</a:t>
            </a:r>
          </a:p>
          <a:p>
            <a:pPr>
              <a:spcAft>
                <a:spcPts val="1200"/>
              </a:spcAft>
              <a:defRPr sz="1100" b="1">
                <a:solidFill>
                  <a:srgbClr val="00C4FF"/>
                </a:solidFill>
                <a:latin typeface="Segoe UI"/>
              </a:defRPr>
            </a:pPr>
            <a:r>
              <a:t>Neutralizing Secondary Sign-In Window Traps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The Attack Vector: </a:t>
            </a:r>
            <a:r>
              <a:rPr>
                <a:solidFill>
                  <a:srgbClr val="CBD5E1"/>
                </a:solidFill>
              </a:rPr>
              <a:t>Phishing sites show 'Continue with Google' opening a secondary popup on a fake domain.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Zero-Keystroke Trap: </a:t>
            </a:r>
            <a:r>
              <a:rPr>
                <a:solidFill>
                  <a:srgbClr val="CBD5E1"/>
                </a:solidFill>
              </a:rPr>
              <a:t>VerifyEye catches the popup the millisecond it opens and locks inputs before user types.</a:t>
            </a:r>
          </a:p>
        </p:txBody>
      </p:sp>
      <p:pic>
        <p:nvPicPr>
          <p:cNvPr id="7" name="Picture 6" descr="07-verifyeye-google-popu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977639"/>
            <a:ext cx="5166360" cy="23317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91072" y="1417320"/>
            <a:ext cx="5166360" cy="237744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23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1636776"/>
            <a:ext cx="4727448" cy="19385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Single-Page App (SPA) Mutation Tracking</a:t>
            </a:r>
          </a:p>
          <a:p>
            <a:pPr>
              <a:spcAft>
                <a:spcPts val="1200"/>
              </a:spcAft>
              <a:defRPr sz="1100" b="1">
                <a:solidFill>
                  <a:srgbClr val="00C4FF"/>
                </a:solidFill>
                <a:latin typeface="Segoe UI"/>
              </a:defRPr>
            </a:pPr>
            <a:r>
              <a:t>Defeating Delayed JavaScript Injection Tactics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The Evasion Trick: </a:t>
            </a:r>
            <a:r>
              <a:rPr>
                <a:solidFill>
                  <a:srgbClr val="CBD5E1"/>
                </a:solidFill>
              </a:rPr>
              <a:t>Phishing pages load blank and inject login forms 2–3 seconds later to fool static web scanners.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Sub-Millisecond Neutralization: </a:t>
            </a:r>
            <a:r>
              <a:rPr>
                <a:solidFill>
                  <a:srgbClr val="CBD5E1"/>
                </a:solidFill>
              </a:rPr>
              <a:t>MutationObserver tracks DOM changes continuously, locking late forms instantly.</a:t>
            </a:r>
          </a:p>
        </p:txBody>
      </p:sp>
      <p:pic>
        <p:nvPicPr>
          <p:cNvPr id="10" name="Picture 9" descr="09-verifyeye-netflix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3977639"/>
            <a:ext cx="516636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C4FF"/>
                </a:solidFill>
                <a:latin typeface="Segoe UI"/>
              </a:defRPr>
            </a:pPr>
            <a:r>
              <a:t>FOUNDATIONAL DATA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Central Core API: Unified Schema &amp; Dual Storage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166360" cy="233172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23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1636776"/>
            <a:ext cx="4727448" cy="1892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The Unified Alert Contract</a:t>
            </a:r>
          </a:p>
          <a:p>
            <a:pPr>
              <a:spcAft>
                <a:spcPts val="1200"/>
              </a:spcAft>
              <a:defRPr sz="1100" b="1">
                <a:solidFill>
                  <a:srgbClr val="00C4FF"/>
                </a:solidFill>
                <a:latin typeface="Segoe UI"/>
              </a:defRPr>
            </a:pPr>
            <a:r>
              <a:t>Strict Pydantic Schema Across All Sensors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1 Shared Schema: </a:t>
            </a:r>
            <a:r>
              <a:rPr>
                <a:solidFill>
                  <a:srgbClr val="CBD5E1"/>
                </a:solidFill>
              </a:rPr>
              <a:t>VerifyEye, SpectraC2, and test harnesses all publish to POST /alerts seamlessly.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Server-Stamped Integrity: </a:t>
            </a:r>
            <a:r>
              <a:rPr>
                <a:solidFill>
                  <a:srgbClr val="CBD5E1"/>
                </a:solidFill>
              </a:rPr>
              <a:t>Backend enforces UTC monotonic timestamps and unique alert IDs.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Zero Friction: </a:t>
            </a:r>
            <a:r>
              <a:rPr>
                <a:solidFill>
                  <a:srgbClr val="CBD5E1"/>
                </a:solidFill>
              </a:rPr>
              <a:t>New detection engines connect immediately without backend code modifications.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1417320"/>
            <a:ext cx="5166360" cy="233172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23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10528" y="1636776"/>
            <a:ext cx="4727448" cy="1892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Durable Telemetry Store (MongoDB)</a:t>
            </a:r>
          </a:p>
          <a:p>
            <a:pPr>
              <a:spcAft>
                <a:spcPts val="1200"/>
              </a:spcAft>
              <a:defRPr sz="1100" b="1">
                <a:solidFill>
                  <a:srgbClr val="00C4FF"/>
                </a:solidFill>
                <a:latin typeface="Segoe UI"/>
              </a:defRPr>
            </a:pPr>
            <a:r>
              <a:t>Complete Raw Evidence &amp; Forensic History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Full Payload Store: </a:t>
            </a:r>
            <a:r>
              <a:rPr>
                <a:solidFill>
                  <a:srgbClr val="CBD5E1"/>
                </a:solidFill>
              </a:rPr>
              <a:t>Preserves raw JSON alerts, full DOM snapshots, and flow metadata.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Immutable Audit Log: </a:t>
            </a:r>
            <a:r>
              <a:rPr>
                <a:solidFill>
                  <a:srgbClr val="CBD5E1"/>
                </a:solidFill>
              </a:rPr>
              <a:t>Guaranteed compliance-ready forensic trail for incident investigations.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Fast Document Lookup: </a:t>
            </a:r>
            <a:r>
              <a:rPr>
                <a:solidFill>
                  <a:srgbClr val="CBD5E1"/>
                </a:solidFill>
              </a:rPr>
              <a:t>Indexed queries on host, alert_id, and severity for instant filtering.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77639"/>
            <a:ext cx="5166360" cy="233172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23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4197095"/>
            <a:ext cx="4727448" cy="1892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Fast Attack Graph (Neo4j)</a:t>
            </a:r>
          </a:p>
          <a:p>
            <a:pPr>
              <a:spcAft>
                <a:spcPts val="1200"/>
              </a:spcAft>
              <a:defRPr sz="1100" b="1">
                <a:solidFill>
                  <a:srgbClr val="00C4FF"/>
                </a:solidFill>
                <a:latin typeface="Segoe UI"/>
              </a:defRPr>
            </a:pPr>
            <a:r>
              <a:t>Optimized for Microsecond Relationship Traversal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Decoupled Design: </a:t>
            </a:r>
            <a:r>
              <a:rPr>
                <a:solidFill>
                  <a:srgbClr val="CBD5E1"/>
                </a:solidFill>
              </a:rPr>
              <a:t>Heavy data lives in Mongo; Neo4j stores strictly nodes (Host, User, Domain, IP).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Atomic Transactions: </a:t>
            </a:r>
            <a:r>
              <a:rPr>
                <a:solidFill>
                  <a:srgbClr val="CBD5E1"/>
                </a:solidFill>
              </a:rPr>
              <a:t>Multi-entity ingestion runs in single transactions, preventing orphan nodes.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Dynamic Entity Merging: </a:t>
            </a:r>
            <a:r>
              <a:rPr>
                <a:solidFill>
                  <a:srgbClr val="CBD5E1"/>
                </a:solidFill>
              </a:rPr>
              <a:t>MERGE constraints avoid duplicates while linking new threat connections.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3977639"/>
            <a:ext cx="5166360" cy="233172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23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4197095"/>
            <a:ext cx="4727448" cy="1892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Event-Driven Core Fabric</a:t>
            </a:r>
          </a:p>
          <a:p>
            <a:pPr>
              <a:spcAft>
                <a:spcPts val="1200"/>
              </a:spcAft>
              <a:defRPr sz="1100" b="1">
                <a:solidFill>
                  <a:srgbClr val="00C4FF"/>
                </a:solidFill>
                <a:latin typeface="Segoe UI"/>
              </a:defRPr>
            </a:pPr>
            <a:r>
              <a:t>Asynchronous Dispatch &amp; Real-Time Delivery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Non-Blocking Flow: </a:t>
            </a:r>
            <a:r>
              <a:rPr>
                <a:solidFill>
                  <a:srgbClr val="CBD5E1"/>
                </a:solidFill>
              </a:rPr>
              <a:t>FastAPI handles HTTP ingest while threadpool writers keep the event loop fast.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&lt;500ms Push: </a:t>
            </a:r>
            <a:r>
              <a:rPr>
                <a:solidFill>
                  <a:srgbClr val="CBD5E1"/>
                </a:solidFill>
              </a:rPr>
              <a:t>WebSocket feed (/ws/alerts) pushes live detections directly to analyst screens.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10-Second Health Probes: </a:t>
            </a:r>
            <a:r>
              <a:rPr>
                <a:solidFill>
                  <a:srgbClr val="CBD5E1"/>
                </a:solidFill>
              </a:rPr>
              <a:t>Sidebar monitor continuously verifies Mongo, Neo4j, and Ollama health.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C4FF"/>
                </a:solidFill>
                <a:latin typeface="Segoe UI"/>
              </a:defRPr>
            </a:pPr>
            <a:r>
              <a:t>MULTI-ENTITY INCIDENT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Attack Graph Correlation: Turning Alerts into Incidents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166360" cy="489204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23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1636776"/>
            <a:ext cx="4727448" cy="4453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Multi-Modal Entity Resolution</a:t>
            </a:r>
          </a:p>
          <a:p>
            <a:pPr>
              <a:spcAft>
                <a:spcPts val="1200"/>
              </a:spcAft>
              <a:defRPr sz="1100" b="1">
                <a:solidFill>
                  <a:srgbClr val="00C4FF"/>
                </a:solidFill>
                <a:latin typeface="Segoe UI"/>
              </a:defRPr>
            </a:pPr>
            <a:r>
              <a:t>Connecting Browser Ingress to Encrypted Network Beacons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Bridging Telemetry Silos: </a:t>
            </a:r>
            <a:r>
              <a:rPr>
                <a:solidFill>
                  <a:srgbClr val="CBD5E1"/>
                </a:solidFill>
              </a:rPr>
              <a:t>Merges browser alerts (Host, User, URL) with network beacons (Host, C2 IP).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2-Hop Blast Radius: </a:t>
            </a:r>
            <a:r>
              <a:rPr>
                <a:solidFill>
                  <a:srgbClr val="CBD5E1"/>
                </a:solidFill>
              </a:rPr>
              <a:t>Reveals every workstation communicating with the same rogue domain or C2 server.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Evidence vs. Standing Fact: </a:t>
            </a:r>
            <a:r>
              <a:rPr>
                <a:solidFill>
                  <a:srgbClr val="CBD5E1"/>
                </a:solidFill>
              </a:rPr>
              <a:t>REPORTED_* edges show alerts; LOGGED_INTO and CONNECTED_TO show network reality.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Attack Path Tracing: </a:t>
            </a:r>
            <a:r>
              <a:rPr>
                <a:solidFill>
                  <a:srgbClr val="CBD5E1"/>
                </a:solidFill>
              </a:rPr>
              <a:t>Cypher queries trace lateral pivot chains (e.g., WORKSTATION-CORP-01 ➔ SRV-DB-02).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80% Faster MTTD: </a:t>
            </a:r>
            <a:r>
              <a:rPr>
                <a:solidFill>
                  <a:srgbClr val="CBD5E1"/>
                </a:solidFill>
              </a:rPr>
              <a:t>Eliminates manual queries across separate consoles with instant visual topology.</a:t>
            </a:r>
          </a:p>
        </p:txBody>
      </p:sp>
      <p:pic>
        <p:nvPicPr>
          <p:cNvPr id="7" name="Picture 6" descr="04-attack-grap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1417320"/>
            <a:ext cx="5166360" cy="32918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91072" y="4892040"/>
            <a:ext cx="5166360" cy="141732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23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5111496"/>
            <a:ext cx="4727448" cy="9784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Interactive Cytoscape Attack Canvas</a:t>
            </a:r>
          </a:p>
          <a:p>
            <a:pPr>
              <a:spcAft>
                <a:spcPts val="1200"/>
              </a:spcAft>
              <a:defRPr sz="1100" b="1">
                <a:solidFill>
                  <a:srgbClr val="00C4FF"/>
                </a:solidFill>
                <a:latin typeface="Segoe UI"/>
              </a:defRPr>
            </a:pPr>
            <a:r>
              <a:t>Real-Time Incident Visualization in Dashboard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Color-Coded Entities: </a:t>
            </a:r>
            <a:r>
              <a:rPr>
                <a:solidFill>
                  <a:srgbClr val="CBD5E1"/>
                </a:solidFill>
              </a:rPr>
              <a:t>Distinct visual shapes for Host, User, Domain, IP, URL, and MITRE techniques.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Click-to-Highlight: </a:t>
            </a:r>
            <a:r>
              <a:rPr>
                <a:solidFill>
                  <a:srgbClr val="CBD5E1"/>
                </a:solidFill>
              </a:rPr>
              <a:t>Selecting any asset instantly illuminates its entire threat neighborhood.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C4FF"/>
                </a:solidFill>
                <a:latin typeface="Segoe UI"/>
              </a:defRPr>
            </a:pPr>
            <a:r>
              <a:t>AUTONOMOUS ON-PREMISES AI TRIAGE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Local AI SOC Analyst: Zero-Egress Incident Briefings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166360" cy="489204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23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1636776"/>
            <a:ext cx="4727448" cy="4453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Air-Gapped Llama 3.2 Engine</a:t>
            </a:r>
          </a:p>
          <a:p>
            <a:pPr>
              <a:spcAft>
                <a:spcPts val="1200"/>
              </a:spcAft>
              <a:defRPr sz="1100" b="1">
                <a:solidFill>
                  <a:srgbClr val="00C4FF"/>
                </a:solidFill>
                <a:latin typeface="Segoe UI"/>
              </a:defRPr>
            </a:pPr>
            <a:r>
              <a:t>Ollama Localhost Inference with Zero Data Leakage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100% On-Premises Privacy: </a:t>
            </a:r>
            <a:r>
              <a:rPr>
                <a:solidFill>
                  <a:srgbClr val="CBD5E1"/>
                </a:solidFill>
              </a:rPr>
              <a:t>Internal hostnames, usernames, and IP addresses never touch external cloud APIs.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Regulatory Compliance: </a:t>
            </a:r>
            <a:r>
              <a:rPr>
                <a:solidFill>
                  <a:srgbClr val="CBD5E1"/>
                </a:solidFill>
              </a:rPr>
              <a:t>Complies with strict HIPAA, GDPR, and defense data sovereignty mandates.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Context Compression: </a:t>
            </a:r>
            <a:r>
              <a:rPr>
                <a:solidFill>
                  <a:srgbClr val="CBD5E1"/>
                </a:solidFill>
              </a:rPr>
              <a:t>Condenses the 50 most recent high-severity alerts into an entity-resolved brief.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Automated MITRE Attribution: </a:t>
            </a:r>
            <a:r>
              <a:rPr>
                <a:solidFill>
                  <a:srgbClr val="CBD5E1"/>
                </a:solidFill>
              </a:rPr>
              <a:t>Maps observed attacker tactics (T1566 Phishing, T1071 C2, TA0008 Lateral).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Instant Operator Value: </a:t>
            </a:r>
            <a:r>
              <a:rPr>
                <a:solidFill>
                  <a:srgbClr val="CBD5E1"/>
                </a:solidFill>
              </a:rPr>
              <a:t>Delivers a concise 3-sentence summary and prioritized action plan in &lt;3 seconds.</a:t>
            </a:r>
          </a:p>
        </p:txBody>
      </p:sp>
      <p:pic>
        <p:nvPicPr>
          <p:cNvPr id="7" name="Picture 6" descr="03-ai-brief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1417320"/>
            <a:ext cx="5166360" cy="32918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91072" y="4892040"/>
            <a:ext cx="5166360" cy="141732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23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5111496"/>
            <a:ext cx="4727448" cy="9784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Automated Incident Briefing Output</a:t>
            </a:r>
          </a:p>
          <a:p>
            <a:pPr>
              <a:spcAft>
                <a:spcPts val="1200"/>
              </a:spcAft>
              <a:defRPr sz="1100" b="1">
                <a:solidFill>
                  <a:srgbClr val="00C4FF"/>
                </a:solidFill>
                <a:latin typeface="Segoe UI"/>
              </a:defRPr>
            </a:pPr>
            <a:r>
              <a:t>Actionable Guidance for Incident Responders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1. Situation Summary: </a:t>
            </a:r>
            <a:r>
              <a:rPr>
                <a:solidFill>
                  <a:srgbClr val="CBD5E1"/>
                </a:solidFill>
              </a:rPr>
              <a:t>Clear summary of compromised hosts, lures, and active C2 connections.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2. Ranked Next Steps: </a:t>
            </a:r>
            <a:r>
              <a:rPr>
                <a:solidFill>
                  <a:srgbClr val="CBD5E1"/>
                </a:solidFill>
              </a:rPr>
              <a:t>Prioritized host isolation and firewall block commands for rapid triage.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C4FF"/>
                </a:solidFill>
                <a:latin typeface="Segoe UI"/>
              </a:defRPr>
            </a:pPr>
            <a:r>
              <a:t>ENTERPRISE OPERATOR WORKSPACE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Unified React SOC Dashboard: Real-Time Event Fabric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166360" cy="489204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23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1636776"/>
            <a:ext cx="4727448" cy="4453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Modern SOC Operations Interface</a:t>
            </a:r>
          </a:p>
          <a:p>
            <a:pPr>
              <a:spcAft>
                <a:spcPts val="1200"/>
              </a:spcAft>
              <a:defRPr sz="1100" b="1">
                <a:solidFill>
                  <a:srgbClr val="00C4FF"/>
                </a:solidFill>
                <a:latin typeface="Segoe UI"/>
              </a:defRPr>
            </a:pPr>
            <a:r>
              <a:t>Single Pane of Glass Built in React 18 &amp; WebSockets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Real-Time WebSocket Feed: </a:t>
            </a:r>
            <a:r>
              <a:rPr>
                <a:solidFill>
                  <a:srgbClr val="CBD5E1"/>
                </a:solidFill>
              </a:rPr>
              <a:t>Detections appear immediately in the alert table without browser refreshes.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Interactive Severity Donut: </a:t>
            </a:r>
            <a:r>
              <a:rPr>
                <a:solidFill>
                  <a:srgbClr val="CBD5E1"/>
                </a:solidFill>
              </a:rPr>
              <a:t>Visual breakdown across Critical, High, Medium, Low, and Untriaged alerts.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Threat Activity Analytics: </a:t>
            </a:r>
            <a:r>
              <a:rPr>
                <a:solidFill>
                  <a:srgbClr val="CBD5E1"/>
                </a:solidFill>
              </a:rPr>
              <a:t>Dynamic area charts trace 24-hour threat volume across detection engines.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Active System Health Polling: </a:t>
            </a:r>
            <a:r>
              <a:rPr>
                <a:solidFill>
                  <a:srgbClr val="CBD5E1"/>
                </a:solidFill>
              </a:rPr>
              <a:t>Sidebar monitors API, MongoDB, Neo4j, and Ollama every 10 seconds.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Operator Ergonomics: </a:t>
            </a:r>
            <a:r>
              <a:rPr>
                <a:solidFill>
                  <a:srgbClr val="CBD5E1"/>
                </a:solidFill>
              </a:rPr>
              <a:t>Sleek, high-contrast dark mode tailored for fast Tier-1 to Tier-3 triage.</a:t>
            </a:r>
          </a:p>
        </p:txBody>
      </p:sp>
      <p:pic>
        <p:nvPicPr>
          <p:cNvPr id="7" name="Picture 6" descr="02-dashboard-ov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1417320"/>
            <a:ext cx="5166360" cy="32918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91072" y="4892040"/>
            <a:ext cx="5166360" cy="141732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23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5111496"/>
            <a:ext cx="4727448" cy="9784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Live Operator Telemetry</a:t>
            </a:r>
          </a:p>
          <a:p>
            <a:pPr>
              <a:spcAft>
                <a:spcPts val="1200"/>
              </a:spcAft>
              <a:defRPr sz="1100" b="1">
                <a:solidFill>
                  <a:srgbClr val="00C4FF"/>
                </a:solidFill>
                <a:latin typeface="Segoe UI"/>
              </a:defRPr>
            </a:pPr>
            <a:r>
              <a:t>Multi-Engine Oversight with Live Health Verification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Top Impacted Assets: </a:t>
            </a:r>
            <a:r>
              <a:rPr>
                <a:solidFill>
                  <a:srgbClr val="CBD5E1"/>
                </a:solidFill>
              </a:rPr>
              <a:t>Workstations ranked dynamically by threat risk scores.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MITRE Technique Matrix: </a:t>
            </a:r>
            <a:r>
              <a:rPr>
                <a:solidFill>
                  <a:srgbClr val="CBD5E1"/>
                </a:solidFill>
              </a:rPr>
              <a:t>Live bars tracking top observed adversary techniques.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C4FF"/>
                </a:solidFill>
                <a:latin typeface="Segoe UI"/>
              </a:defRPr>
            </a:pPr>
            <a:r>
              <a:t>END-TO-END VALIDATION &amp; INCIDENT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Validation: 4-Stage Intrusion Replay &amp; Host Containment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2542032" cy="384048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23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1636776"/>
            <a:ext cx="2103120" cy="3401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Stage 1: Ingress</a:t>
            </a:r>
          </a:p>
          <a:p>
            <a:pPr>
              <a:spcAft>
                <a:spcPts val="1200"/>
              </a:spcAft>
              <a:defRPr sz="1100" b="1">
                <a:solidFill>
                  <a:srgbClr val="00C4FF"/>
                </a:solidFill>
                <a:latin typeface="Segoe UI"/>
              </a:defRPr>
            </a:pPr>
            <a:r>
              <a:t>Initial Access (T1566)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Adversary Lure: </a:t>
            </a:r>
            <a:r>
              <a:rPr>
                <a:solidFill>
                  <a:srgbClr val="CBD5E1"/>
                </a:solidFill>
              </a:rPr>
              <a:t>User directed to fake login portal via BadUSB or email lure.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VerifyEye Defense: </a:t>
            </a:r>
            <a:r>
              <a:rPr>
                <a:solidFill>
                  <a:srgbClr val="CBD5E1"/>
                </a:solidFill>
              </a:rPr>
              <a:t>Detects brand spoofing, freezes form inputs, and logs Critical alert.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Result: </a:t>
            </a:r>
            <a:r>
              <a:rPr>
                <a:solidFill>
                  <a:srgbClr val="CBD5E1"/>
                </a:solidFill>
              </a:rPr>
              <a:t>Zero passwords stolen; host &amp; user flagged.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417320"/>
            <a:ext cx="2542032" cy="384048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23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75888" y="1636776"/>
            <a:ext cx="2103120" cy="3401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Stage 2: Egress</a:t>
            </a:r>
          </a:p>
          <a:p>
            <a:pPr>
              <a:spcAft>
                <a:spcPts val="1200"/>
              </a:spcAft>
              <a:defRPr sz="1100" b="1">
                <a:solidFill>
                  <a:srgbClr val="00C4FF"/>
                </a:solidFill>
                <a:latin typeface="Segoe UI"/>
              </a:defRPr>
            </a:pPr>
            <a:r>
              <a:t>Encrypted C2 (T1071)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Active Implant: </a:t>
            </a:r>
            <a:r>
              <a:rPr>
                <a:solidFill>
                  <a:srgbClr val="CBD5E1"/>
                </a:solidFill>
              </a:rPr>
              <a:t>Reverse shell beacons to external listener with 25% timing jitter.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SpectraC2 Defense: </a:t>
            </a:r>
            <a:r>
              <a:rPr>
                <a:solidFill>
                  <a:srgbClr val="CBD5E1"/>
                </a:solidFill>
              </a:rPr>
              <a:t>FFT analysis isolates 10.0s harmonic peak through the noise floor.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Result: </a:t>
            </a:r>
            <a:r>
              <a:rPr>
                <a:solidFill>
                  <a:srgbClr val="CBD5E1"/>
                </a:solidFill>
              </a:rPr>
              <a:t>Critical alert logged with 94% confidence.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417320"/>
            <a:ext cx="2542032" cy="384048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23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36776"/>
            <a:ext cx="2103120" cy="3401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Stage 3: Correlation</a:t>
            </a:r>
          </a:p>
          <a:p>
            <a:pPr>
              <a:spcAft>
                <a:spcPts val="1200"/>
              </a:spcAft>
              <a:defRPr sz="1100" b="1">
                <a:solidFill>
                  <a:srgbClr val="00C4FF"/>
                </a:solidFill>
                <a:latin typeface="Segoe UI"/>
              </a:defRPr>
            </a:pPr>
            <a:r>
              <a:t>Attack Graph Fusion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Entity Fusion: </a:t>
            </a:r>
            <a:r>
              <a:rPr>
                <a:solidFill>
                  <a:srgbClr val="CBD5E1"/>
                </a:solidFill>
              </a:rPr>
              <a:t>Neo4j merges browser alert &amp; C2 beacon around WORKSTATION-CORP-01.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Blast Radius: </a:t>
            </a:r>
            <a:r>
              <a:rPr>
                <a:solidFill>
                  <a:srgbClr val="CBD5E1"/>
                </a:solidFill>
              </a:rPr>
              <a:t>Shows shared user and external infrastructure across endpoints.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Result: </a:t>
            </a:r>
            <a:r>
              <a:rPr>
                <a:solidFill>
                  <a:srgbClr val="CBD5E1"/>
                </a:solidFill>
              </a:rPr>
              <a:t>Entire incident linked in 1 graph 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417320"/>
            <a:ext cx="2542032" cy="384048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23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25712" y="1636776"/>
            <a:ext cx="2103120" cy="3401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Stage 4: Containment</a:t>
            </a:r>
          </a:p>
          <a:p>
            <a:pPr>
              <a:spcAft>
                <a:spcPts val="1200"/>
              </a:spcAft>
              <a:defRPr sz="1100" b="1">
                <a:solidFill>
                  <a:srgbClr val="00C4FF"/>
                </a:solidFill>
                <a:latin typeface="Segoe UI"/>
              </a:defRPr>
            </a:pPr>
            <a:r>
              <a:t>1-Click Host Isolation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Operator Action: </a:t>
            </a:r>
            <a:r>
              <a:rPr>
                <a:solidFill>
                  <a:srgbClr val="CBD5E1"/>
                </a:solidFill>
              </a:rPr>
              <a:t>Analyst clicks 'Isolate Host' directly on the alert details panel.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EDR Enforcement: </a:t>
            </a:r>
            <a:r>
              <a:rPr>
                <a:solidFill>
                  <a:srgbClr val="CBD5E1"/>
                </a:solidFill>
              </a:rPr>
              <a:t>API invokes quarantine, immediately cutting off C2 connection.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Result: </a:t>
            </a:r>
            <a:r>
              <a:rPr>
                <a:solidFill>
                  <a:srgbClr val="CBD5E1"/>
                </a:solidFill>
              </a:rPr>
              <a:t>Intrusion contained in seconds; host saved.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486400"/>
            <a:ext cx="10716768" cy="77724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00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PROVEN IMPACT: Automated Test Harness (run_live_demo.py) validates MTTD &lt; 500ms and cuts MTTR from hours to seconds.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C4FF"/>
                </a:solidFill>
                <a:latin typeface="Segoe UI"/>
              </a:defRPr>
            </a:pPr>
            <a:r>
              <a:t>SECOND-HALF DEVELOPMENT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Next Steps: High-Impact Capabilities for Final Showcase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328416" cy="484632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23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1636776"/>
            <a:ext cx="2889504" cy="44074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Visual Logo AI Classifier</a:t>
            </a:r>
          </a:p>
          <a:p>
            <a:pPr>
              <a:spcAft>
                <a:spcPts val="1200"/>
              </a:spcAft>
              <a:defRPr sz="1100" b="1">
                <a:solidFill>
                  <a:srgbClr val="00C4FF"/>
                </a:solidFill>
                <a:latin typeface="Segoe UI"/>
              </a:defRPr>
            </a:pPr>
            <a:r>
              <a:t>YOLOv8 &amp; Perceptual Hashing (pHash)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Computer Vision Defense: </a:t>
            </a:r>
            <a:r>
              <a:rPr>
                <a:solidFill>
                  <a:srgbClr val="CBD5E1"/>
                </a:solidFill>
              </a:rPr>
              <a:t>Deploy quantized YOLOv8 object detection to identify logos even when HTML text is obfuscated.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Sub-300ms Browser Inference: </a:t>
            </a:r>
            <a:r>
              <a:rPr>
                <a:solidFill>
                  <a:srgbClr val="CBD5E1"/>
                </a:solidFill>
              </a:rPr>
              <a:t>Optimize ONNX model weights for lightweight execution without browser slowdown.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50+ Enterprise Brands: </a:t>
            </a:r>
            <a:r>
              <a:rPr>
                <a:solidFill>
                  <a:srgbClr val="CBD5E1"/>
                </a:solidFill>
              </a:rPr>
              <a:t>Expand catalog to protect top enterprise SaaS portals, banking, and cloud consoles.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417320"/>
            <a:ext cx="3328416" cy="484632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23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45152" y="1636776"/>
            <a:ext cx="2889504" cy="44074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Conversational SOC Copilot</a:t>
            </a:r>
          </a:p>
          <a:p>
            <a:pPr>
              <a:spcAft>
                <a:spcPts val="1200"/>
              </a:spcAft>
              <a:defRPr sz="1100" b="1">
                <a:solidFill>
                  <a:srgbClr val="00C4FF"/>
                </a:solidFill>
                <a:latin typeface="Segoe UI"/>
              </a:defRPr>
            </a:pPr>
            <a:r>
              <a:t>Natural Language Graph Reasoning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Plain-English Q&amp;A: </a:t>
            </a:r>
            <a:r>
              <a:rPr>
                <a:solidFill>
                  <a:srgbClr val="CBD5E1"/>
                </a:solidFill>
              </a:rPr>
              <a:t>Enable analysts to query the attack graph in English ('Which hosts talked to 198.51.100.42?').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Automatic Cypher Translation: </a:t>
            </a:r>
            <a:r>
              <a:rPr>
                <a:solidFill>
                  <a:srgbClr val="CBD5E1"/>
                </a:solidFill>
              </a:rPr>
              <a:t>Local LLM converts natural questions into Cypher queries and highlights subgraphs.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Automated Playbooks: </a:t>
            </a:r>
            <a:r>
              <a:rPr>
                <a:solidFill>
                  <a:srgbClr val="CBD5E1"/>
                </a:solidFill>
              </a:rPr>
              <a:t>Generates contextual firewall rules and remediation scripts with 1-click execution.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417320"/>
            <a:ext cx="3328416" cy="484632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23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39328" y="1636776"/>
            <a:ext cx="2889504" cy="44074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LinuxONE Scale Benchmarking</a:t>
            </a:r>
          </a:p>
          <a:p>
            <a:pPr>
              <a:spcAft>
                <a:spcPts val="1200"/>
              </a:spcAft>
              <a:defRPr sz="1100" b="1">
                <a:solidFill>
                  <a:srgbClr val="00C4FF"/>
                </a:solidFill>
                <a:latin typeface="Segoe UI"/>
              </a:defRPr>
            </a:pPr>
            <a:r>
              <a:t>Enterprise Validation on IBM s390x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High-Throughput Replay: </a:t>
            </a:r>
            <a:r>
              <a:rPr>
                <a:solidFill>
                  <a:srgbClr val="CBD5E1"/>
                </a:solidFill>
              </a:rPr>
              <a:t>Stream multi-gigabyte DARPA TC and enterprise PCAPs through Kafka pipeline.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&gt;95% Verified Precision: </a:t>
            </a:r>
            <a:r>
              <a:rPr>
                <a:solidFill>
                  <a:srgbClr val="CBD5E1"/>
                </a:solidFill>
              </a:rPr>
              <a:t>Validate beacon detection across 200+ randomized jitter trials.</a:t>
            </a:r>
          </a:p>
          <a:p>
            <a:pPr>
              <a:spcAft>
                <a:spcPts val="1000"/>
              </a:spcAft>
              <a:defRPr sz="1250">
                <a:latin typeface="Segoe UI"/>
              </a:defRPr>
            </a:pPr>
            <a:r>
              <a:rPr b="1">
                <a:solidFill>
                  <a:srgbClr val="00C4FF"/>
                </a:solidFill>
              </a:rPr>
              <a:t>● </a:t>
            </a:r>
            <a:r>
              <a:rPr b="1">
                <a:solidFill>
                  <a:srgbClr val="FFFFFF"/>
                </a:solidFill>
              </a:rPr>
              <a:t>December 2026 Showcase: </a:t>
            </a:r>
            <a:r>
              <a:rPr>
                <a:solidFill>
                  <a:srgbClr val="CBD5E1"/>
                </a:solidFill>
              </a:rPr>
              <a:t>Deliver complete live intrusion defense demonstration for senior capstone defense.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