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9DB592-7D20-45D8-8A1A-093F3058BD93}">
  <a:tblStyle styleId="{B69DB592-7D20-45D8-8A1A-093F3058BD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664aba2522c6933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664aba2522c6933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h664aba2522c6933_1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64aba2522c6933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64aba2522c6933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h664aba2522c6933_1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664aba2522c6933_1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664aba2522c6933_1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h664aba2522c6933_1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31d6393fb21eff28_9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h31d6393fb21eff28_9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31d6393fb21eff28_9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31d6393fb21eff28_9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31d6393fb21eff28_9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h31d6393fb21eff28_9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31d6393fb21eff28_9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31d6393fb21eff28_9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31d6393fb21eff28_9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31d6393fb21eff28_9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31d6393fb21eff28_9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31d6393fb21eff28_9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31d6393fb21eff28_19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31d6393fb21eff28_19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h31d6393fb21eff28_19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31d6393fb21eff28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31d6393fb21eff28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31d6393fb21eff28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31d6393fb21eff28_19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31d6393fb21eff28_19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h31d6393fb21eff28_19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31d6393fb21eff28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31d6393fb21eff28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h31d6393fb21eff28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31d6393fb21eff28_19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31d6393fb21eff28_19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31d6393fb21eff28_19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31d6393fb21eff28_19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31d6393fb21eff28_19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h31d6393fb21eff28_19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31d6393fb21eff28_19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31d6393fb21eff28_19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31d6393fb21eff28_19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31d6393fb21eff28_19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31d6393fb21eff28_19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h31d6393fb21eff28_19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31d6393fb21eff28_19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31d6393fb21eff28_19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31d6393fb21eff28_19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31d6393fb21eff28_19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31d6393fb21eff28_19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h31d6393fb21eff28_19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31d6393fb21eff28_19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h31d6393fb21eff28_19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31d6393fb21eff28_19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31d6393fb21eff28_19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h31d6393fb21eff28_19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h31d6393fb21eff28_19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664aba2522c6933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h664aba2522c6933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h664aba2522c6933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Relationship Id="rId4" Type="http://schemas.openxmlformats.org/officeDocument/2006/relationships/image" Target="../media/image2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Relationship Id="rId4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rive.google.com/file/d/1hLQuttDLSdeCba61BHSpz6BNylKeNQng/view" TargetMode="External"/><Relationship Id="rId4" Type="http://schemas.openxmlformats.org/officeDocument/2006/relationships/image" Target="../media/image2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692640" y="-1645920"/>
            <a:ext cx="4754880" cy="4754880"/>
          </a:xfrm>
          <a:prstGeom prst="ellipse">
            <a:avLst/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839" y="9521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1737360" y="822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SENIOR CAPSTONE </a:t>
            </a:r>
            <a:r>
              <a:rPr b="1" lang="en-US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CHECKPOINT 3/MIDTERM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OmniGuard SOC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4290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Autonomous Multi-Modal Threat Defense, Jitter-Invariant C2 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&amp; Graph-Based Incident Triage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822960" y="4892040"/>
            <a:ext cx="0" cy="777240"/>
          </a:xfrm>
          <a:prstGeom prst="straightConnector1">
            <a:avLst/>
          </a:prstGeom>
          <a:noFill/>
          <a:ln cap="flat" cmpd="sng" w="1905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960120" y="48920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DA3B8"/>
                </a:solidFill>
                <a:latin typeface="Calibri"/>
                <a:ea typeface="Calibri"/>
                <a:cs typeface="Calibri"/>
                <a:sym typeface="Calibri"/>
              </a:rPr>
              <a:t>PRIMARY DOMAINS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960120" y="5166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AI/ML, SecOps &amp;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4069080" y="4892040"/>
            <a:ext cx="0" cy="777240"/>
          </a:xfrm>
          <a:prstGeom prst="straightConnector1">
            <a:avLst/>
          </a:prstGeom>
          <a:noFill/>
          <a:ln cap="flat" cmpd="sng" w="1905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4206240" y="48920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DA3B8"/>
                </a:solidFill>
                <a:latin typeface="Calibri"/>
                <a:ea typeface="Calibri"/>
                <a:cs typeface="Calibri"/>
                <a:sym typeface="Calibri"/>
              </a:rPr>
              <a:t>TARGET INFRASTRUCTURE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206240" y="5166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IBM LinuxONE, AWS &amp; On-Prem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7315200" y="4892040"/>
            <a:ext cx="0" cy="777240"/>
          </a:xfrm>
          <a:prstGeom prst="straightConnector1">
            <a:avLst/>
          </a:prstGeom>
          <a:noFill/>
          <a:ln cap="flat" cmpd="sng" w="1905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7452360" y="48920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3B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8DA3B8"/>
                </a:solidFill>
                <a:latin typeface="Calibri"/>
                <a:ea typeface="Calibri"/>
                <a:cs typeface="Calibri"/>
                <a:sym typeface="Calibri"/>
              </a:rPr>
              <a:t>TARGET COMPLETION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7452360" y="5166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December 2026 (12–14 Weeks)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DA3B8"/>
                </a:solidFill>
                <a:latin typeface="Calibri"/>
                <a:ea typeface="Calibri"/>
                <a:cs typeface="Calibri"/>
                <a:sym typeface="Calibri"/>
              </a:rPr>
              <a:t>Khoi  •  Rahim  •  Aayush  •  Abu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Roles &amp; Responsibilities (1/2)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187452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wave.png" id="42" name="Google Shape;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7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1737360" y="216712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Khoi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737360" y="25603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Encrypted C2 Behavioral Engine &amp; Telemetry 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0" y="187452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720840" y="2194560"/>
            <a:ext cx="685800" cy="6858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eye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543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7589520" y="216712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Rahim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7589520" y="25603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Visual Ingress Defense &amp; Adversary Emulation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766560" y="3291840"/>
            <a:ext cx="4663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Develop the VerifyEye engine: YOLOv8/pHash brand-logo detection and Playwright DOM crawler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Build the Chrome MV3 extension for real-time credential form locking on unverified submissions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Script Flipper Zero BadUSB / rogue captive-portal scenarios and configure the Sliver C2 listener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14400" y="3291840"/>
            <a:ext cx="4663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Build the SpectraC2 flow-metadata pipeline on IBM LinuxONE (s390x): IAT variance, packet symmetry, spectral density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Train and tune the FFT/PSD feature extractor and LSTM classifier that isolate jittered C2 beacons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Stand up the Kafka/Redis ingestion layer and Zeek/Suricata telemetry parsers feeding the graph engine</a:t>
            </a:r>
            <a:endParaRPr sz="15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10802275" y="74950"/>
            <a:ext cx="10119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Khoi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Roles &amp; Responsibilities (2/2)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48640" y="187452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roject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7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737360" y="216712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Abu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737360" y="25603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Graph Correlation &amp; Air-Gapped LLM Triage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14400" y="3291840"/>
            <a:ext cx="4663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Design the Neo4j property-graph schema and entity resolution for hosts, users, IPs and processes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Implement shortest-path, blast-radius and centrality algorithms in Cypher / NetworkX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Deploy the air-gapped Ollama (Llama-3-Cyber) triage layer and MITRE ATT&amp;CK mapping prompts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0" y="187452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720840" y="2194560"/>
            <a:ext cx="685800" cy="685800"/>
          </a:xfrm>
          <a:prstGeom prst="ellipse">
            <a:avLst/>
          </a:prstGeom>
          <a:solidFill>
            <a:srgbClr val="00E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art.png"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5432" y="23591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7589520" y="216712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ayush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589520" y="256032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250"/>
              <a:buFont typeface="Calibri"/>
              <a:buNone/>
            </a:pPr>
            <a:r>
              <a:rPr b="1" i="0" lang="en-US" sz="17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Unified Dashboard &amp; Platform Integration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766560" y="3291840"/>
            <a:ext cx="4663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Build the React / React Flow / D3.js SOC dashboard: attack graphs, FFT heatmaps, timeline playback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Wire WebSocket streaming for sub-second alert delivery across all three engines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286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Own AWS ECS/Lambda deployment and end-to-end integration across the five project phases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10802275" y="74950"/>
            <a:ext cx="10119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Khoi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Crisis in Modern SOC: 3 critical blind spots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70850" y="2145729"/>
            <a:ext cx="102354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286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Calibri"/>
              <a:buChar char="●"/>
            </a:pPr>
            <a:r>
              <a:rPr b="1" i="1"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Zero-Hour Phishing Gap: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Malicious harvesting domains live for only 4–8 hours. Blacklists take 12–48 hours to update, leaving organizations fully exposed during initial campaigns.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286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Calibri"/>
              <a:buChar char="●"/>
            </a:pPr>
            <a:r>
              <a:rPr b="1" i="1"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Encrypted C2 Blind Spot: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&gt;95% of traffic is encrypted (TLS 1.3). Attackers inject 10%–50% randomized jitter into beacon loops, completely evading traditional threshold-based firewalls.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286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Calibri"/>
              <a:buChar char="●"/>
            </a:pPr>
            <a:r>
              <a:rPr b="1" i="1"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Alert Fatigue &amp; Siloed Tools:</a:t>
            </a: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Analysts face 10,000+ disconnected daily alerts. Relational databases fail to trace multi-hop lateral movement, leaving dwell times over 16 days.</a:t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⇒ </a:t>
            </a:r>
            <a:r>
              <a:rPr i="1" lang="en-US" sz="22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OmniGuard eliminates point-solution sprawl by unifying browser-level ingress, wire-level network telemetry, and graph-based response into one platform.</a:t>
            </a:r>
            <a:endParaRPr i="1" sz="22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0802275" y="74950"/>
            <a:ext cx="10119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Khoi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563840" y="4147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OmniGuard System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0802275" y="74950"/>
            <a:ext cx="10119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Khoi</a:t>
            </a:r>
            <a:endParaRPr b="1" sz="2300">
              <a:solidFill>
                <a:schemeClr val="lt1"/>
              </a:solidFill>
            </a:endParaRPr>
          </a:p>
        </p:txBody>
      </p:sp>
      <p:pic>
        <p:nvPicPr>
          <p:cNvPr id="89" name="Google Shape;8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863" y="1054968"/>
            <a:ext cx="10366267" cy="549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8" title="Screenshot 2026-10-17 0630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13" y="76200"/>
            <a:ext cx="11541780" cy="67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8"/>
          <p:cNvSpPr txBox="1"/>
          <p:nvPr/>
        </p:nvSpPr>
        <p:spPr>
          <a:xfrm>
            <a:off x="10802275" y="74950"/>
            <a:ext cx="10119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Khoi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VerifyEye: zero-hour browser defense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6837350" y="2264825"/>
            <a:ext cx="45270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Catches phishing </a:t>
            </a:r>
            <a:r>
              <a:rPr i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browser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before credentials leave the device.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Surgical freeze—locks the login fields and submit, drops a warning banner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Network block—kills exfiltration</a:t>
            </a:r>
            <a:b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 if a script bypasses the form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9" title="06-verifyeye-claude-froze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25" y="2528462"/>
            <a:ext cx="5837700" cy="289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"/>
          <p:cNvSpPr txBox="1"/>
          <p:nvPr/>
        </p:nvSpPr>
        <p:spPr>
          <a:xfrm>
            <a:off x="911575" y="5666400"/>
            <a:ext cx="56805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Fake Claude  page to test VerifyEye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 txBox="1"/>
          <p:nvPr/>
        </p:nvSpPr>
        <p:spPr>
          <a:xfrm>
            <a:off x="10774175" y="74950"/>
            <a:ext cx="12834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Rahim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VerifyEye: beating the evasions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6554325" y="2145725"/>
            <a:ext cx="48366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Fake OAuth popups — caught the instant they open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Late/single-page-appforms—caught by a live DOM watcher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brands, defined centrally</a:t>
            </a:r>
            <a:endParaRPr i="1" sz="22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0" title="07-verifyeye-google-popu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875" y="2797549"/>
            <a:ext cx="5297550" cy="2598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 txBox="1"/>
          <p:nvPr/>
        </p:nvSpPr>
        <p:spPr>
          <a:xfrm>
            <a:off x="746100" y="5626325"/>
            <a:ext cx="5411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Fake Claude  page with google pop-up to test VerifyEye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 txBox="1"/>
          <p:nvPr/>
        </p:nvSpPr>
        <p:spPr>
          <a:xfrm>
            <a:off x="10774175" y="74950"/>
            <a:ext cx="12834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Rahim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VerifyEye: more examples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1" title="09-verifyeye-netflix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250" y="2734550"/>
            <a:ext cx="5588600" cy="27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 txBox="1"/>
          <p:nvPr/>
        </p:nvSpPr>
        <p:spPr>
          <a:xfrm>
            <a:off x="1209725" y="5660900"/>
            <a:ext cx="5252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Fake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Netflix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page to test VerifyEye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1" title="10-verifyeye-tikto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825" y="2734550"/>
            <a:ext cx="4959524" cy="2724449"/>
          </a:xfrm>
          <a:prstGeom prst="rect">
            <a:avLst/>
          </a:prstGeom>
          <a:solidFill>
            <a:srgbClr val="132F4C"/>
          </a:solidFill>
          <a:ln>
            <a:noFill/>
          </a:ln>
        </p:spPr>
      </p:pic>
      <p:sp>
        <p:nvSpPr>
          <p:cNvPr id="129" name="Google Shape;129;p11"/>
          <p:cNvSpPr txBox="1"/>
          <p:nvPr/>
        </p:nvSpPr>
        <p:spPr>
          <a:xfrm>
            <a:off x="6611938" y="5670500"/>
            <a:ext cx="46593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Fake TikTok page to test VerifyEye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10774175" y="74950"/>
            <a:ext cx="12834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Rahim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/>
          <p:nvPr/>
        </p:nvSpPr>
        <p:spPr>
          <a:xfrm>
            <a:off x="548640" y="658043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VerifyEye: more examples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1002275" y="5066225"/>
            <a:ext cx="101142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Fig.: Fake Amazon page to test VerifyEye. In the first screenshot we have VerifyEye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zero-hour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phishing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detection freezing the credentials. Even if the page somehow manages to fight our first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layer,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 have another layer that doesn’t submit the credentials to a fake suspicious domain and blocks all the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submission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on forms.</a:t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2" title="11-verifyeye-amaz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00" y="2174425"/>
            <a:ext cx="5317796" cy="2599174"/>
          </a:xfrm>
          <a:prstGeom prst="rect">
            <a:avLst/>
          </a:prstGeom>
          <a:solidFill>
            <a:srgbClr val="132F4C"/>
          </a:solidFill>
          <a:ln>
            <a:noFill/>
          </a:ln>
        </p:spPr>
      </p:pic>
      <p:pic>
        <p:nvPicPr>
          <p:cNvPr id="140" name="Google Shape;14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6860" y="2174425"/>
            <a:ext cx="5291341" cy="25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2"/>
          <p:cNvSpPr txBox="1"/>
          <p:nvPr/>
        </p:nvSpPr>
        <p:spPr>
          <a:xfrm>
            <a:off x="10774175" y="74950"/>
            <a:ext cx="12834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Rahim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/>
          <p:nvPr/>
        </p:nvSpPr>
        <p:spPr>
          <a:xfrm>
            <a:off x="548640" y="171193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scattered alerts to one incident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548650" y="983725"/>
            <a:ext cx="11064300" cy="53352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6654555" y="1597050"/>
            <a:ext cx="48366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Links hosts, users, domains, IPs, and URLs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 which machines touch the same bad infrastructure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 investigation tool not just a display of alerts.</a:t>
            </a:r>
            <a:endParaRPr i="1" sz="22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3" title="04-attack-graph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500" y="1133900"/>
            <a:ext cx="5643476" cy="45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/>
          <p:nvPr/>
        </p:nvSpPr>
        <p:spPr>
          <a:xfrm>
            <a:off x="808050" y="5809625"/>
            <a:ext cx="546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Graph showing hosts, users, domains, IPs, URLS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11214525" y="74950"/>
            <a:ext cx="843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Abu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/>
          <p:nvPr/>
        </p:nvSpPr>
        <p:spPr>
          <a:xfrm>
            <a:off x="548640" y="143081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scratched to one Fully scaled Graph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281075" y="824450"/>
            <a:ext cx="11645400" cy="58929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5251475" y="6116600"/>
            <a:ext cx="6675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Graph showing hosts, users, domains, IPs, URLS more closely</a:t>
            </a:r>
            <a:endParaRPr/>
          </a:p>
        </p:txBody>
      </p:sp>
      <p:pic>
        <p:nvPicPr>
          <p:cNvPr id="161" name="Google Shape;161;p14" title="Screenshot 2026-10-02 at 10.10.40 PM.png"/>
          <p:cNvPicPr preferRelativeResize="0"/>
          <p:nvPr/>
        </p:nvPicPr>
        <p:blipFill rotWithShape="1">
          <a:blip r:embed="rId3">
            <a:alphaModFix/>
          </a:blip>
          <a:srcRect b="10789" l="14047" r="977" t="15817"/>
          <a:stretch/>
        </p:blipFill>
        <p:spPr>
          <a:xfrm>
            <a:off x="5941163" y="1838500"/>
            <a:ext cx="5929175" cy="41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/>
          <p:cNvPicPr preferRelativeResize="0"/>
          <p:nvPr/>
        </p:nvPicPr>
        <p:blipFill rotWithShape="1">
          <a:blip r:embed="rId4">
            <a:alphaModFix/>
          </a:blip>
          <a:srcRect b="-3242" l="0" r="-2449" t="0"/>
          <a:stretch/>
        </p:blipFill>
        <p:spPr>
          <a:xfrm>
            <a:off x="971400" y="898425"/>
            <a:ext cx="3132223" cy="24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487" y="3950650"/>
            <a:ext cx="4528052" cy="270122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/>
          <p:nvPr/>
        </p:nvSpPr>
        <p:spPr>
          <a:xfrm>
            <a:off x="4984225" y="3716963"/>
            <a:ext cx="861900" cy="1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4839763" y="4750000"/>
            <a:ext cx="1063200" cy="44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14"/>
          <p:cNvSpPr/>
          <p:nvPr/>
        </p:nvSpPr>
        <p:spPr>
          <a:xfrm rot="5400000">
            <a:off x="2254463" y="3387375"/>
            <a:ext cx="566100" cy="387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11214525" y="74950"/>
            <a:ext cx="843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Abu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/>
          <p:nvPr/>
        </p:nvSpPr>
        <p:spPr>
          <a:xfrm>
            <a:off x="548640" y="171193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Complete Dashboard Design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48650" y="730775"/>
            <a:ext cx="11064300" cy="55881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2746650" y="4459575"/>
            <a:ext cx="66987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Reads every recent alert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Shows all the alerts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Prioritize the criticalness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Uses different types of charts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5" title="Screenshot 2026-10-02 at 10.08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825" y="980051"/>
            <a:ext cx="5345413" cy="309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title="Screenshot 2026-10-02 at 10.08.4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2849" y="980050"/>
            <a:ext cx="5340124" cy="30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11214525" y="74950"/>
            <a:ext cx="843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Abu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local AI analyst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548650" y="1509150"/>
            <a:ext cx="11064300" cy="51897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6710768" y="1846463"/>
            <a:ext cx="48366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Reads every recent alert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Writes a summary + prioritized next steps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Runs on-device—nothing leaves the machine</a:t>
            </a:r>
            <a:endParaRPr i="1" sz="22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845800" y="6137550"/>
            <a:ext cx="546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shows AI-generated summary.</a:t>
            </a:r>
            <a:endParaRPr/>
          </a:p>
        </p:txBody>
      </p:sp>
      <p:pic>
        <p:nvPicPr>
          <p:cNvPr id="188" name="Google Shape;188;p16" title="03-ai-brief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49" y="1651200"/>
            <a:ext cx="5730700" cy="429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/>
          <p:nvPr/>
        </p:nvSpPr>
        <p:spPr>
          <a:xfrm>
            <a:off x="2004925" y="4131675"/>
            <a:ext cx="4309800" cy="1789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6314725" y="4736675"/>
            <a:ext cx="2698200" cy="773700"/>
          </a:xfrm>
          <a:prstGeom prst="bentUpArrow">
            <a:avLst>
              <a:gd fmla="val 25000" name="adj1"/>
              <a:gd fmla="val 25000" name="adj2"/>
              <a:gd fmla="val 41683" name="adj3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11214525" y="74950"/>
            <a:ext cx="843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Abu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/>
          <p:nvPr/>
        </p:nvSpPr>
        <p:spPr>
          <a:xfrm>
            <a:off x="548640" y="6583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unified dashboard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6554325" y="2145725"/>
            <a:ext cx="4836600" cy="3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 alerts over WebSocket—no refresh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system health monitor (polls every 10 s)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Trends, activity, graph, AI—one screen</a:t>
            </a:r>
            <a:endParaRPr i="1" sz="22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808050" y="5809625"/>
            <a:ext cx="546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dashboard overview.</a:t>
            </a:r>
            <a:endParaRPr/>
          </a:p>
        </p:txBody>
      </p:sp>
      <p:pic>
        <p:nvPicPr>
          <p:cNvPr id="201" name="Google Shape;201;p17" title="02-dashboard-overvie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475" y="2227813"/>
            <a:ext cx="4666300" cy="349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11214525" y="74950"/>
            <a:ext cx="843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Abu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"/>
          <p:cNvSpPr/>
          <p:nvPr/>
        </p:nvSpPr>
        <p:spPr>
          <a:xfrm>
            <a:off x="563840" y="300643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End-to-end, live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48650" y="2421050"/>
            <a:ext cx="11064300" cy="41028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64890" y="123021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signals for testing/spectra 2/Phishing page frozen → Alert to core → Stored + correlated → AI briefs the analyst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933750" y="2948300"/>
            <a:ext cx="10324500" cy="30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84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fake login is frozen in the browser → an alert fires → instantly on the dashboard (live, no refresh)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core stores the full record in MongoDB and links its entities in Neo4j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2286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local AI reads it and briefs the analyst—all on-device, zero cloud egress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0802275" y="74950"/>
            <a:ext cx="1255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Aayush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/>
          <p:nvPr/>
        </p:nvSpPr>
        <p:spPr>
          <a:xfrm>
            <a:off x="548640" y="1559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End-to-end, part 1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548650" y="2421050"/>
            <a:ext cx="11064300" cy="41028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771900" y="5606475"/>
            <a:ext cx="546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VerifyEye freezing the login.</a:t>
            </a:r>
            <a:endParaRPr/>
          </a:p>
        </p:txBody>
      </p:sp>
      <p:pic>
        <p:nvPicPr>
          <p:cNvPr id="221" name="Google Shape;221;p19" title="06-verifyeye-claude-froze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8950" y="2836248"/>
            <a:ext cx="4426850" cy="219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title="01-alerts-pag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0825" y="2528548"/>
            <a:ext cx="3751124" cy="28133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/>
          <p:nvPr/>
        </p:nvSpPr>
        <p:spPr>
          <a:xfrm>
            <a:off x="6359400" y="5498625"/>
            <a:ext cx="5142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dashboard showing the same alert showing up.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2398050" y="1252763"/>
            <a:ext cx="694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Phishing page frozen → Alert fired → Live on the dashboard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10802275" y="74950"/>
            <a:ext cx="1255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Aayush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548640" y="47751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End-to-end, part 2a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08050" y="5628750"/>
            <a:ext cx="546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alert landing on our mongoDB.</a:t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676940" y="111771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API → MongoDB (full record) + Neo4j (entities) → AI briefing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0" title="Screenshot 2026-10-17 at 1.04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250" y="2312075"/>
            <a:ext cx="5251401" cy="294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title="Screenshot 2026-10-17 at 1.09.0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200" y="3697413"/>
            <a:ext cx="5159950" cy="17271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6595225" y="5255475"/>
            <a:ext cx="4791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post endpoint being valid.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10802275" y="74950"/>
            <a:ext cx="1255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Aayush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548640" y="47751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End-to-end, part 2b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48650" y="1874525"/>
            <a:ext cx="11064300" cy="4444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808050" y="5387625"/>
            <a:ext cx="546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graph being drawn after alert is posted.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676940" y="111771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API → MongoDB (full record) + Neo4j (entities) → AI briefing</a:t>
            </a:r>
            <a:endParaRPr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595225" y="5387625"/>
            <a:ext cx="4791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Fig : Screenshot showing the AI summary for all the alerts that we have in the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1" title="03-ai-briefi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0050" y="2205950"/>
            <a:ext cx="4242250" cy="318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 title="04-attack-grap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3225" y="2264725"/>
            <a:ext cx="4085500" cy="3064125"/>
          </a:xfrm>
          <a:prstGeom prst="rect">
            <a:avLst/>
          </a:prstGeom>
          <a:solidFill>
            <a:srgbClr val="132F4C"/>
          </a:solidFill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10802275" y="74950"/>
            <a:ext cx="1255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Aayush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/>
          <p:nvPr/>
        </p:nvSpPr>
        <p:spPr>
          <a:xfrm>
            <a:off x="563840" y="245843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Demo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1589025" y="6165300"/>
            <a:ext cx="8443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Video: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Video showing the 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end-to-end</a:t>
            </a: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demo of the whole product.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2" title="Screen Recording 2026-10-17 at 1.45.18 A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9250" y="886050"/>
            <a:ext cx="9833504" cy="52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10802275" y="74950"/>
            <a:ext cx="1255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Aayush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/>
          <p:nvPr/>
        </p:nvSpPr>
        <p:spPr>
          <a:xfrm>
            <a:off x="548640" y="3810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48650" y="1385475"/>
            <a:ext cx="11064300" cy="49335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graphicFrame>
        <p:nvGraphicFramePr>
          <p:cNvPr id="268" name="Google Shape;268;p23"/>
          <p:cNvGraphicFramePr/>
          <p:nvPr/>
        </p:nvGraphicFramePr>
        <p:xfrm>
          <a:off x="1005325" y="156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{B69DB592-7D20-45D8-8A1A-093F3058BD93}</a:tableStyleId>
              </a:tblPr>
              <a:tblGrid>
                <a:gridCol w="3363550"/>
                <a:gridCol w="3363550"/>
                <a:gridCol w="3363550"/>
              </a:tblGrid>
              <a:tr h="5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Phase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Focus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Status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1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Architecture &amp; alert contract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Done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2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VerifyEye + core detection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Done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3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Dashboard, graph, AI triage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Done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85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4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SpectraC2, visual tier, chatbot, VerifyEye V2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In progress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5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Testing + final demo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>
                          <a:solidFill>
                            <a:schemeClr val="lt1"/>
                          </a:solidFill>
                        </a:rPr>
                        <a:t>In progress</a:t>
                      </a:r>
                      <a:endParaRPr sz="2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69" name="Google Shape;269;p23"/>
          <p:cNvSpPr txBox="1"/>
          <p:nvPr/>
        </p:nvSpPr>
        <p:spPr>
          <a:xfrm>
            <a:off x="11095975" y="74950"/>
            <a:ext cx="10458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Abu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9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/>
          <p:nvPr/>
        </p:nvSpPr>
        <p:spPr>
          <a:xfrm>
            <a:off x="548640" y="381068"/>
            <a:ext cx="11064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499400" y="1500700"/>
            <a:ext cx="5172900" cy="23106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1713253" y="1740800"/>
            <a:ext cx="276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Deeper detection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890300" y="2865525"/>
            <a:ext cx="35400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Encrypted-C2 engine (SpectraC2)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 logo detection + confidence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24" title="Screenshot 2026-10-17 at 1.30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300" y="1740806"/>
            <a:ext cx="6096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/>
          <p:nvPr/>
        </p:nvSpPr>
        <p:spPr>
          <a:xfrm>
            <a:off x="6082100" y="1448200"/>
            <a:ext cx="5530800" cy="23631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7966450" y="1740800"/>
            <a:ext cx="2765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Richer Investigation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7143500" y="2865525"/>
            <a:ext cx="37614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Graph Filtering: time, severity, type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 correlation at scale.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524050" y="4217200"/>
            <a:ext cx="5172900" cy="23106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1737899" y="4457300"/>
            <a:ext cx="3295200" cy="76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reasons over everything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914950" y="5582025"/>
            <a:ext cx="37614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graphs: users, hosts, IPs. 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Ask in plain English and get actions and directions (chat style)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24" title="Screenshot 2026-10-17 at 1.30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950" y="4457306"/>
            <a:ext cx="6096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6106750" y="4164700"/>
            <a:ext cx="5530800" cy="2363100"/>
          </a:xfrm>
          <a:prstGeom prst="roundRect">
            <a:avLst>
              <a:gd fmla="val 1739" name="adj"/>
            </a:avLst>
          </a:prstGeom>
          <a:solidFill>
            <a:srgbClr val="132F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7991100" y="4457300"/>
            <a:ext cx="32031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Detection to response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7168150" y="5582025"/>
            <a:ext cx="37614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click host containment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 control, search, alerts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4" title="Screenshot 2026-10-17 at 1.30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150" y="4457306"/>
            <a:ext cx="6096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 title="Screenshot 2026-10-17 at 1.34.4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875" y="1771400"/>
            <a:ext cx="5905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10802275" y="74950"/>
            <a:ext cx="12552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lt1"/>
                </a:solidFill>
              </a:rPr>
              <a:t>Aayush</a:t>
            </a:r>
            <a:endParaRPr b="1" sz="2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8" y="37888"/>
            <a:ext cx="12073626" cy="678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